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54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628211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Automatique du Statut Tensionnel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8932" y="1199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données MAPA 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1885511"/>
            <a:ext cx="2560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80060" y="2612633"/>
            <a:ext cx="13716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1 580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Patients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20240" y="2606040"/>
            <a:ext cx="13716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8" name="Text 16"/>
          <p:cNvSpPr/>
          <p:nvPr/>
        </p:nvSpPr>
        <p:spPr>
          <a:xfrm>
            <a:off x="192024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Features MAPA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2606040"/>
            <a:ext cx="13716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42900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Algorithmes ML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2606040"/>
            <a:ext cx="13716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3776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90.4%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096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443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83F26AF-D702-DD59-05FF-6865D9C5D071}"/>
              </a:ext>
            </a:extLst>
          </p:cNvPr>
          <p:cNvSpPr txBox="1"/>
          <p:nvPr/>
        </p:nvSpPr>
        <p:spPr>
          <a:xfrm>
            <a:off x="429768" y="3638037"/>
            <a:ext cx="5465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>
                    <a:lumMod val="65000"/>
                  </a:schemeClr>
                </a:solidFill>
              </a:rPr>
              <a:t>MAPA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 (Mesure Ambulatoire de la Pression Artérielle) — un appareil que le patient porte 24h pour mesurer sa tension automatiquement toutes les 15-30 minutes, le jour et la nuit.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E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 du projet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9304" y="235000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" y="868680"/>
            <a:ext cx="1115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64592" y="868680"/>
            <a:ext cx="1115568" cy="27432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64592" y="8869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" y="1252728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3776" y="1271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</a:rPr>
              <a:t>PDFs MAPA bruts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377440"/>
            <a:ext cx="987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1 580 rapports médicaux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4 pages par patient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14600" y="235000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89888" y="868680"/>
            <a:ext cx="1115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389888" y="868680"/>
            <a:ext cx="1115568" cy="274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389888" y="8869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19072" y="1252728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719072" y="1271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53896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</a:rPr>
              <a:t>Anonymisation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53896" y="2807208"/>
            <a:ext cx="987552" cy="1237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j’ai supprimé les informations sensibles des patients</a:t>
            </a:r>
            <a:br>
              <a:rPr lang="fr-FR" sz="10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pour respecter la confidentialité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39896" y="235000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615184" y="868680"/>
            <a:ext cx="1115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615184" y="868680"/>
            <a:ext cx="1115568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615184" y="8869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44368" y="12527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944368" y="1271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79192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79192" y="2377440"/>
            <a:ext cx="987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extract_data.py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Regex → 47 colonnes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</a:rPr>
              <a:t>bp_summary.csv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65192" y="235000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840480" y="868680"/>
            <a:ext cx="1115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840480" y="868680"/>
            <a:ext cx="1115568" cy="2743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840480" y="8869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69664" y="1252728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169664" y="1271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04488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</a:rPr>
              <a:t>Label LLM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77056" y="2542384"/>
            <a:ext cx="987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j’ai utilisé un modèle LLM pour générer automatiquement</a:t>
            </a:r>
            <a:br>
              <a:rPr lang="fr-FR" sz="10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le label médical à partir du diagnostic.</a:t>
            </a:r>
          </a:p>
          <a:p>
            <a:pPr algn="ctr"/>
            <a:r>
              <a:rPr lang="fr-FR" sz="1000" dirty="0" err="1">
                <a:solidFill>
                  <a:schemeClr val="bg2">
                    <a:lumMod val="50000"/>
                  </a:schemeClr>
                </a:solidFill>
              </a:rPr>
              <a:t>ollama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90488" y="235000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›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065776" y="868680"/>
            <a:ext cx="1115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5065776" y="868680"/>
            <a:ext cx="1115568" cy="274320"/>
          </a:xfrm>
          <a:prstGeom prst="rect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065776" y="8869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394960" y="1252728"/>
            <a:ext cx="457200" cy="457200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394960" y="1271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9784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</a:rPr>
              <a:t>EDA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9784" y="2557506"/>
            <a:ext cx="987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J’ai analysé les données pour comprendre leur distribution,</a:t>
            </a:r>
            <a:br>
              <a:rPr lang="fr-FR" sz="10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les corrélations et détecter les problèmes.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15784" y="235000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›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291072" y="868680"/>
            <a:ext cx="1115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291072" y="868680"/>
            <a:ext cx="1115568" cy="274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291072" y="8869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620256" y="12527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620256" y="1271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55080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</a:rPr>
              <a:t>Modélisation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55080" y="2377440"/>
            <a:ext cx="987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546E7A"/>
                </a:solidFill>
              </a:rPr>
              <a:t>brouillon</a:t>
            </a:r>
            <a:r>
              <a:rPr lang="en-US" sz="950" dirty="0">
                <a:solidFill>
                  <a:srgbClr val="546E7A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J’ai testé 7 modèles de Machine Learning.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516368" y="868680"/>
            <a:ext cx="1115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7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7516368" y="868680"/>
            <a:ext cx="1115568" cy="27432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7516368" y="8869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845552" y="1252728"/>
            <a:ext cx="457200" cy="457200"/>
          </a:xfrm>
          <a:prstGeom prst="ellipse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845552" y="1271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580376" y="18745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</a:rPr>
              <a:t>API + Interface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580376" y="2496312"/>
            <a:ext cx="987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j’ai développé une API Flask avec une interface web</a:t>
            </a:r>
            <a:br>
              <a:rPr lang="fr-FR" sz="10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pour faire des prédictions directement à partir d’un PDF.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01_EDA.ipynb — Analyse Exploratoire des Données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91440" cy="1920240"/>
          </a:xfrm>
          <a:prstGeom prst="rect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0624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D1457"/>
                </a:solidFill>
              </a:rPr>
              <a:t>   Structure du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34416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1 580 lignes × 47 colonnes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Types : float64, int64, object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Zéro doublons détectés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91440" cy="192024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364992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    Valeurs manquantes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34416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age : 18 NaN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aasi_sys : 38 NaN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circadian_* : 132 NaN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→ Imputées avant ML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86868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44768" y="868680"/>
            <a:ext cx="91440" cy="1920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09360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   Distribution cible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34416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health_label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not : 964 (61%)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• healthy : 615 (39%)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→ Classes déséquilibrées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97180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56032" y="2971800"/>
            <a:ext cx="91440" cy="1920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20624" y="3063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     </a:t>
            </a:r>
            <a:r>
              <a:rPr lang="en-US" sz="1200" b="1" dirty="0" err="1">
                <a:solidFill>
                  <a:srgbClr val="028090"/>
                </a:solidFill>
              </a:rPr>
              <a:t>Démographie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" y="344728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Âge moyen : 50 ans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Min : 15 | Max : 97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Hommes : 805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Femmes : 774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91440" cy="19202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364992" y="3063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    BP Distributions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344728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all_avg_sys : 95–203 mmHg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all_avg_dia : 50–130 mmHg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Histogrammes quasi-normaux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297180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144768" y="2971800"/>
            <a:ext cx="91440" cy="192024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09360" y="3063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     Corrélations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44728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Forte corrélation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sys_day ↔ sys_night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load_pct ↔ avg_sys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Matrice heatmap coolwarm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brouillon.ipynb — Nettoyage &amp; Préparation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2926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886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      Étapes de nettoyage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5272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2161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Extraction statut_tensionnel par regex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sur colonne diagnostics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37944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847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8013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Suppression 12 colonnes inutiles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(datetimes, texte brut, variance nulle)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23160"/>
            <a:ext cx="274320" cy="27432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1480" y="2432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865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Exclusion 1 patient (readings_count=0)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et 119 «Inconnu»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08376"/>
            <a:ext cx="274320" cy="27432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Imputation NaN : médiane pour age/aasi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0 pour circadian (absence dipping)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593592"/>
            <a:ext cx="274320" cy="274320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36027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5570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Encodage : sex, health_label, statut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via LabelEncoder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114800" cy="2926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00600" y="886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     </a:t>
            </a:r>
            <a:r>
              <a:rPr lang="en-US" sz="1200" b="1" dirty="0" err="1">
                <a:solidFill>
                  <a:srgbClr val="FFFFFF"/>
                </a:solidFill>
              </a:rPr>
              <a:t>Résultat</a:t>
            </a:r>
            <a:r>
              <a:rPr lang="en-US" sz="1200" b="1" dirty="0">
                <a:solidFill>
                  <a:srgbClr val="FFFFFF"/>
                </a:solidFill>
              </a:rPr>
              <a:t> après nettoyage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1252728"/>
            <a:ext cx="3840480" cy="530352"/>
          </a:xfrm>
          <a:prstGeom prst="rect">
            <a:avLst/>
          </a:prstGeom>
          <a:solidFill>
            <a:srgbClr val="F8F9F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0" y="1298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Patients finaux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1 460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92040" y="1874520"/>
            <a:ext cx="3840480" cy="530352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029200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Features pour 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34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92040" y="2496312"/>
            <a:ext cx="3840480" cy="530352"/>
          </a:xfrm>
          <a:prstGeom prst="rect">
            <a:avLst/>
          </a:prstGeom>
          <a:solidFill>
            <a:srgbClr val="F8F9F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029200" y="2542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NaN restants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2542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92040" y="3118104"/>
            <a:ext cx="3840480" cy="530352"/>
          </a:xfrm>
          <a:prstGeom prst="rect">
            <a:avLst/>
          </a:prstGeom>
          <a:solidFill>
            <a:srgbClr val="F8F9F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29200" y="3163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Doublons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31638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920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Distribution statut_tensionnel 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069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HTA vraie  756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23760" y="4114800"/>
            <a:ext cx="760781" cy="128016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892040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Normale  635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23760" y="4389120"/>
            <a:ext cx="629107" cy="128016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92040" y="4617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Limite  69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4663440"/>
            <a:ext cx="73152" cy="128016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brouillon.ipynb — Comparaison des 7 Algorithmes ML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#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Modèle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822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822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F1-Score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822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859536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12618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</a:rPr>
              <a:t>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90.41%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280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88.39%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344168"/>
            <a:ext cx="989381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1682496"/>
            <a:ext cx="8595360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" y="17556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</a:rPr>
              <a:t>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1773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90.07%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1773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88.86%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1837944"/>
            <a:ext cx="927202" cy="146304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217627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0040" y="22494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</a:rPr>
              <a:t>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SVM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89.73%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87.56%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0" y="2331720"/>
            <a:ext cx="865022" cy="146304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2670048"/>
            <a:ext cx="8595360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20040" y="27432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2761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89.38%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2761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89.4%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55280" y="2825496"/>
            <a:ext cx="801014" cy="146304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274320" y="3163824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20040" y="323697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89.38%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87.56%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955280" y="3319272"/>
            <a:ext cx="801014" cy="146304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74320" y="3657600"/>
            <a:ext cx="8595360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20040" y="37307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XGBoost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89.38%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88.34%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3813048"/>
            <a:ext cx="801014" cy="146304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274320" y="4151376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20040" y="4224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</a:rPr>
              <a:t>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5800" y="4242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</a:rPr>
              <a:t>KNN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0" y="4242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</a:rPr>
              <a:t>88.36%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0" y="4242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86.2%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955280" y="4306824"/>
            <a:ext cx="614477" cy="146304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→  Random Forest sélectionné : meilleure accuracy globale (90.4%)  |  Gradient Boosting : meilleur F1 (88.9%)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E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02_Modeling.ipynb — Modélisation Finale (Random Forest)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292608"/>
          </a:xfrm>
          <a:prstGeom prst="rect">
            <a:avLst/>
          </a:prstGeom>
          <a:solidFill>
            <a:srgbClr val="0B1E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886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Notebook 02_Modeling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25296"/>
            <a:ext cx="45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14 features sélectionnées manuellement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45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Encodage health_label → 0/1 (LabelEncoder)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45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Train/Test split stratifié 80/20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45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RandomForest(n_estimators=100, random_state=42)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80944"/>
            <a:ext cx="45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Évaluation : accuracy + classification report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19856"/>
            <a:ext cx="45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34015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Visualisation arbre 1 (profondeur 3)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858768"/>
            <a:ext cx="45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Importance des features (top 10)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297680"/>
            <a:ext cx="45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4279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Sauvegarde : random_forest.pkl, label_encoder.pkl, feature_names.pkl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868680"/>
            <a:ext cx="420624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206240" cy="2926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09160" y="886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Résultats du modèle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234440"/>
            <a:ext cx="393192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00600" y="12618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90.8%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800600" y="1810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Accuracy — Random Forest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Top 5 features importantes 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all_avg_sys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40880" y="2779776"/>
            <a:ext cx="321869" cy="12801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549640" y="2724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22%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072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day_avg_sys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40880" y="3127248"/>
            <a:ext cx="263347" cy="12801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8549640" y="30723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18%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419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night_avg_sys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40880" y="3474720"/>
            <a:ext cx="219456" cy="12801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549640" y="34198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15%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day_sys_load_pct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40880" y="3822192"/>
            <a:ext cx="175565" cy="12801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8549640" y="3767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12%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aasi_sys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40880" y="4169664"/>
            <a:ext cx="131674" cy="12801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8549640" y="4114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9%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ED7E436-00DF-834A-6431-82C407604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342900"/>
            <a:ext cx="6911688" cy="33094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3940FE-5C6D-989A-F142-9658861C2B50}"/>
              </a:ext>
            </a:extLst>
          </p:cNvPr>
          <p:cNvSpPr/>
          <p:nvPr/>
        </p:nvSpPr>
        <p:spPr>
          <a:xfrm>
            <a:off x="4572000" y="3838218"/>
            <a:ext cx="3101340" cy="1107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2">
                    <a:lumMod val="50000"/>
                  </a:schemeClr>
                </a:solidFill>
              </a:rPr>
              <a:t>La courbe </a:t>
            </a:r>
            <a:r>
              <a:rPr lang="fr-FR" sz="1100" dirty="0" err="1">
                <a:solidFill>
                  <a:schemeClr val="bg2">
                    <a:lumMod val="50000"/>
                  </a:schemeClr>
                </a:solidFill>
              </a:rPr>
              <a:t>Precision-Recall</a:t>
            </a:r>
            <a:r>
              <a:rPr lang="fr-FR" sz="1100" dirty="0">
                <a:solidFill>
                  <a:schemeClr val="bg2">
                    <a:lumMod val="50000"/>
                  </a:schemeClr>
                </a:solidFill>
              </a:rPr>
              <a:t> est utile quand les données sont déséquilibrées : plus la courbe est haute et au-dessus du taux de la classe positive, plus le modèle est performant.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7C9887-3DC7-DFC6-505B-7DF455EDE01D}"/>
              </a:ext>
            </a:extLst>
          </p:cNvPr>
          <p:cNvSpPr/>
          <p:nvPr/>
        </p:nvSpPr>
        <p:spPr>
          <a:xfrm>
            <a:off x="937260" y="3838218"/>
            <a:ext cx="3101340" cy="1107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2">
                    <a:lumMod val="50000"/>
                  </a:schemeClr>
                </a:solidFill>
              </a:rPr>
              <a:t>La courbe ROC montre la capacité du modèle à distinguer les deux classes.</a:t>
            </a:r>
            <a:br>
              <a:rPr lang="fr-FR" sz="11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fr-FR" sz="1100" dirty="0">
                <a:solidFill>
                  <a:schemeClr val="bg2">
                    <a:lumMod val="50000"/>
                  </a:schemeClr>
                </a:solidFill>
              </a:rPr>
              <a:t>Plus la courbe est proche du coin en haut à gauche, meilleur est le modèle</a:t>
            </a:r>
          </a:p>
        </p:txBody>
      </p:sp>
    </p:spTree>
    <p:extLst>
      <p:ext uri="{BB962C8B-B14F-4D97-AF65-F5344CB8AC3E}">
        <p14:creationId xmlns:p14="http://schemas.microsoft.com/office/powerpoint/2010/main" val="3640919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2682D39-4808-3599-59B0-6D95FC249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270347"/>
            <a:ext cx="5635222" cy="345583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B5BC396-D4C9-1897-3C44-0566AAAE8FC4}"/>
              </a:ext>
            </a:extLst>
          </p:cNvPr>
          <p:cNvSpPr txBox="1"/>
          <p:nvPr/>
        </p:nvSpPr>
        <p:spPr>
          <a:xfrm>
            <a:off x="952500" y="3919343"/>
            <a:ext cx="8252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Résultat obtenu: la matrice de confusion montre que le modèle fait majoritairement des prédictions correctes (valeurs élevées sur la diagonale) avec quelques erreurs de confusion entre classes</a:t>
            </a:r>
          </a:p>
        </p:txBody>
      </p:sp>
    </p:spTree>
    <p:extLst>
      <p:ext uri="{BB962C8B-B14F-4D97-AF65-F5344CB8AC3E}">
        <p14:creationId xmlns:p14="http://schemas.microsoft.com/office/powerpoint/2010/main" val="4071217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752</Words>
  <Application>Microsoft Office PowerPoint</Application>
  <PresentationFormat>Affichage à l'écran (16:9)</PresentationFormat>
  <Paragraphs>179</Paragraphs>
  <Slides>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MAPA·AI — Classification du Statut Tensionnel</dc:title>
  <dc:subject>PptxGenJS Presentation</dc:subject>
  <dc:creator>PptxGenJS</dc:creator>
  <cp:lastModifiedBy>USER</cp:lastModifiedBy>
  <cp:revision>3</cp:revision>
  <dcterms:created xsi:type="dcterms:W3CDTF">2026-04-14T08:05:17Z</dcterms:created>
  <dcterms:modified xsi:type="dcterms:W3CDTF">2026-04-20T15:19:19Z</dcterms:modified>
</cp:coreProperties>
</file>